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9" r:id="rId3"/>
    <p:sldId id="327" r:id="rId4"/>
    <p:sldId id="333" r:id="rId5"/>
    <p:sldId id="350" r:id="rId6"/>
    <p:sldId id="351" r:id="rId7"/>
    <p:sldId id="328" r:id="rId8"/>
    <p:sldId id="329" r:id="rId9"/>
    <p:sldId id="335" r:id="rId10"/>
    <p:sldId id="330" r:id="rId11"/>
    <p:sldId id="345" r:id="rId12"/>
    <p:sldId id="346" r:id="rId13"/>
    <p:sldId id="355" r:id="rId14"/>
    <p:sldId id="354" r:id="rId15"/>
    <p:sldId id="349" r:id="rId16"/>
    <p:sldId id="326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53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>
      <p:cViewPr>
        <p:scale>
          <a:sx n="80" d="100"/>
          <a:sy n="80" d="100"/>
        </p:scale>
        <p:origin x="154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49C0CB-3077-4A2C-A263-34908B18F1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0FDBD4-CECE-4489-86D6-D12748BF19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18AD1CAA-8E5C-49F6-8938-72360B2BE9BA}" type="datetimeFigureOut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AF0860-EA4C-470F-953E-A330E0ABA9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CD5A3C-3604-4181-BB10-EF1F20AB415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E5D8934D-CC79-41E4-84A0-8E210C28D0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1F8ED2-BED6-42C2-80BF-D0DDEF1BB6B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0A5090-DDE5-4846-93BE-A1655C2571B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94D85942-DFC5-4B20-B5C9-CCE8F5D93199}" type="datetimeFigureOut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4DCBBA6-3CFE-454C-915B-2F557CCB50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FA9522D-261C-456E-9909-C0D312DD7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F42A2-8DE7-4D71-92CA-346712661A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32067-15CE-4CFC-88B9-89B3A0F219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6A9F5FE-36A4-49E1-AC13-A222A228958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7840EE95-7363-4926-B290-3A8210046C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63985331-A8BE-46A9-BEEC-B969CF2C8C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464F66CD-1804-40B2-A3A3-A8D525DB9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AE71682-A2E8-46DE-A7B3-20F0B3AD6C26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9F5FE-36A4-49E1-AC13-A222A2289585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5533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9F5FE-36A4-49E1-AC13-A222A2289585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9678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9F5FE-36A4-49E1-AC13-A222A2289585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0534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80920D-B6AE-44B7-A614-3E19FD85E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85013B-3371-48FC-9407-F92BD42A5CA9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ADB77-829A-477C-9C0C-151A5096E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9F79D-D26C-4B9A-9720-48C3725EF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1673AE-CDED-468E-9E60-13F9774D8E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2531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E68E3-5E88-4FA2-8C26-450DBAD82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E8CA06-C0FA-4A35-B9BF-5CBFE5CB9336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4CD55-6E4A-4A63-98EF-FA743743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F5683-DEE8-45FB-8DAD-B25D6E885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21BEF2-95F5-417E-9097-980329164CC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3740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0D9E7-0515-400A-86E2-F96F6242C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BE9779-8E71-4A34-ACDD-8BB13DEE2332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E256D-C27A-4160-9DB1-FF5E7864C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E034D-8222-48D3-89D9-7CEBFB7D4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87B5C6-F485-457A-88E2-FF928EC41E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5745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62788E1-6A09-47B5-BC67-57CE1B8E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B0931-B853-4338-857D-EC51455FBAEA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6718E1B-2187-4A00-8130-FF0CCF185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B829CFF-BC30-4A03-9C08-2E85922F6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30785C-3C3F-4D72-B6E5-E6D38F5558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3186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A1461F9-281D-4D2B-9EF4-0961D9F5A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F35988-ABC1-47B4-8337-180F809C6E04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2E3E607-E774-4F71-ACBB-FE851B943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4CFFD8A-7C08-446F-B45D-132D79B6B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98D808-031B-4F6F-A439-4ABFE2BF38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8178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FECACAB-8F93-4899-AD13-62CA490A5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DF58F0-0B71-4C0D-BBA6-85074C846FE6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46160C0-EE48-4D0E-A5AB-28501651F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AD730CE-7954-4549-BAAE-6B545D3E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B35500-9D2C-47A3-BF87-3935A794A6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0302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7E62CF2-CD3F-46A2-8A14-8052FB3F9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3D11A-F1DE-4A50-95C9-D10180535CA0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41D14B1-D7C1-4357-B6C5-D6BDF3D8A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1A949BD-68C3-4EEF-B906-09FE3440E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610838-7400-411B-B689-2F6C35481D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312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5B26A4A-8706-4957-968A-429659FA6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D890D1-ADAD-4367-ADA2-AFAFF9F81D11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0A2F1D4-1189-48DE-BA98-325CD9C25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986B66-2394-42B1-9BDE-35C177A62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EEDBB8-2F2A-4E69-B4E6-C45A1A2193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2277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3A3A19-677F-46D0-8327-737A4396E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651B4-9843-45AB-8E22-71543FB46DA2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EC761C7-6D46-45C5-A06E-1C9467DF5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25F70F5-D8D2-4E99-B0E5-DC927F254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600780-8261-4F2C-8AB1-4FC7C46475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4317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8DC88-AE01-4CAA-9020-B90D8607B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94FE15-DD9A-40C6-9AF8-2CF0E2DC9FED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2C5CF-6CAA-4307-B6A8-DF54D826B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552A0-9D79-48E4-B25F-688BC1867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26A04B-D0EF-4595-87CA-07FE647A1A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009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76813-D725-49F2-945C-CCAB9D2A9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0FD5AE-DF06-40E8-B10A-A7E8871D9706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B94B4-C37D-4CF1-B803-70ECE9F98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CB5775-0DF8-430A-981E-D9F890F1E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B4311E-D5F2-40A4-B2D6-DDC2AFD861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6422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FDCBFCD-ADA5-49D9-8EC2-C25B2ED55BC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11E7B0C-3D44-4CB9-82E9-732D3B5E65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30E18-6B0F-4561-A8EC-664E8249D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6A74232-FC8A-49F8-80E8-B50A0BA80DF4}" type="datetime1">
              <a:rPr lang="en-US"/>
              <a:pPr>
                <a:defRPr/>
              </a:pPr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380AF-395F-446F-B527-ECA9916A9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C784E-7B42-4220-A301-963093C40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1E04AAF9-47BF-4F68-B79A-2D00C1CD1B6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7133BE8-A87E-4DBC-98E8-2FD6622AA548}"/>
              </a:ext>
            </a:extLst>
          </p:cNvPr>
          <p:cNvSpPr txBox="1">
            <a:spLocks/>
          </p:cNvSpPr>
          <p:nvPr/>
        </p:nvSpPr>
        <p:spPr>
          <a:xfrm>
            <a:off x="152400" y="177230"/>
            <a:ext cx="8839200" cy="6477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lang="en-US" sz="4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B2990C-D7A3-4312-BBC7-CC2452B79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0869" y="913787"/>
            <a:ext cx="7315200" cy="8382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b="1" dirty="0"/>
              <a:t>   </a:t>
            </a:r>
            <a:br>
              <a:rPr lang="en-US" sz="2400" dirty="0"/>
            </a:br>
            <a:r>
              <a:rPr lang="en-US" sz="2400" b="1" dirty="0">
                <a:solidFill>
                  <a:srgbClr val="FF0000"/>
                </a:solidFill>
              </a:rPr>
              <a:t>DEPARTMENT OF COMPUTER SCIENCE AND ENGINEERING </a:t>
            </a:r>
            <a:br>
              <a:rPr lang="en-US" sz="2400" b="1" dirty="0"/>
            </a:br>
            <a:endParaRPr lang="en-US" sz="3600" b="1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1E9BB19-E97E-45D3-BB72-E34CC7BF07BD}"/>
              </a:ext>
            </a:extLst>
          </p:cNvPr>
          <p:cNvSpPr txBox="1">
            <a:spLocks/>
          </p:cNvSpPr>
          <p:nvPr/>
        </p:nvSpPr>
        <p:spPr>
          <a:xfrm>
            <a:off x="228600" y="5181600"/>
            <a:ext cx="8686800" cy="13716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anchor="t">
            <a:normAutofit fontScale="77500" lnSpcReduction="20000"/>
          </a:bodyPr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3300" b="1" u="sng" dirty="0">
                <a:solidFill>
                  <a:srgbClr val="FF0000"/>
                </a:solidFill>
              </a:rPr>
              <a:t>Guide Details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000" b="1" dirty="0">
                <a:solidFill>
                  <a:srgbClr val="002060"/>
                </a:solidFill>
                <a:cs typeface="Calibri"/>
              </a:rPr>
              <a:t>Kaveri </a:t>
            </a:r>
            <a:r>
              <a:rPr lang="en-US" sz="3000" b="1" dirty="0" err="1">
                <a:solidFill>
                  <a:srgbClr val="002060"/>
                </a:solidFill>
                <a:cs typeface="Calibri"/>
              </a:rPr>
              <a:t>Pallikonda</a:t>
            </a:r>
            <a:endParaRPr lang="en-US" sz="3000" b="1" dirty="0">
              <a:solidFill>
                <a:srgbClr val="002060"/>
              </a:solidFill>
              <a:cs typeface="Calibri"/>
            </a:endParaRP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200" b="1" dirty="0">
                <a:solidFill>
                  <a:srgbClr val="002060"/>
                </a:solidFill>
              </a:rPr>
              <a:t>Assistant Professor 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200" b="1" dirty="0">
                <a:solidFill>
                  <a:srgbClr val="002060"/>
                </a:solidFill>
              </a:rPr>
              <a:t>Department of CSE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sz="1600" b="1" dirty="0">
              <a:solidFill>
                <a:srgbClr val="002060"/>
              </a:solidFill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sz="32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3034EB3-E5B7-485E-984F-A0E903E0E9A7}"/>
              </a:ext>
            </a:extLst>
          </p:cNvPr>
          <p:cNvSpPr txBox="1">
            <a:spLocks/>
          </p:cNvSpPr>
          <p:nvPr/>
        </p:nvSpPr>
        <p:spPr>
          <a:xfrm>
            <a:off x="2743200" y="2286000"/>
            <a:ext cx="3657600" cy="533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BATCH ID : 23MPCS-G22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B366ABC-1782-4359-A4C5-6579CEFE1A4B}"/>
              </a:ext>
            </a:extLst>
          </p:cNvPr>
          <p:cNvSpPr txBox="1">
            <a:spLocks/>
          </p:cNvSpPr>
          <p:nvPr/>
        </p:nvSpPr>
        <p:spPr>
          <a:xfrm>
            <a:off x="304800" y="1524000"/>
            <a:ext cx="8610600" cy="609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anchor="ctr">
            <a:normAutofit fontScale="70000" lnSpcReduction="2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Title: An AI-Based Framework for Automation Forensic Image Analysis and Crime Scene Report Generation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B4BF96B-13BF-42E1-B330-96082705FE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316967"/>
              </p:ext>
            </p:extLst>
          </p:nvPr>
        </p:nvGraphicFramePr>
        <p:xfrm>
          <a:off x="1219200" y="2971800"/>
          <a:ext cx="6934200" cy="15849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80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94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4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S.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Roll. No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Student 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23881A05CR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G Nikitha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23881A05CU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G Dinesh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23881A05CE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B Srishanth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C380515-DA03-C63F-7DAB-FBAD305F3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114" y="267313"/>
            <a:ext cx="1244394" cy="9518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3BCD6-0BDF-480C-A0B6-637D78994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Mini Project Outlines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F8B19-D2C3-436D-A49D-CAD348F23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14413"/>
            <a:ext cx="8763000" cy="5614987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Introduction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Existing System Vs Proposed 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Research Gaps 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Problem Statement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Proposed Project Objectives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Proposed Project Outcomes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Software and Hardware Requirements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Architectural Diagram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>
                <a:ea typeface="+mn-lt"/>
                <a:cs typeface="+mn-lt"/>
              </a:rPr>
              <a:t>Proposed Methods and Algorithms 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>
                <a:ea typeface="+mn-lt"/>
                <a:cs typeface="+mn-lt"/>
              </a:rPr>
              <a:t>Results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>
                <a:ea typeface="+mn-lt"/>
                <a:cs typeface="+mn-lt"/>
              </a:rPr>
              <a:t>Conclusion</a:t>
            </a: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A625E3-5C6C-47E5-A216-96E946FCD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3DC7A18A-CF2F-40C0-9C89-65D9A71130B3}" type="slidenum">
              <a:rPr lang="en-US" altLang="en-US">
                <a:solidFill>
                  <a:srgbClr val="898989"/>
                </a:solidFill>
              </a:rPr>
              <a:pPr/>
              <a:t>2</a:t>
            </a:fld>
            <a:endParaRPr lang="en-US" altLang="en-US" dirty="0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FCE242-E21F-4D18-A237-B7CA4E6562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5FFB9-D3CC-44A9-9FC7-C2A67668E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5A160-9E89-4EFA-87F2-5AD9612AF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0" indent="0">
              <a:buNone/>
            </a:pPr>
            <a:r>
              <a:rPr lang="en-US" sz="1600" b="1" dirty="0" err="1"/>
              <a:t>CrimeSolver</a:t>
            </a:r>
            <a:r>
              <a:rPr lang="en-US" sz="1600" dirty="0"/>
              <a:t> is an advanced AI-driven forensic framework designed to automate the detection, classification, and validation of digital crime scene evidence. By leveraging a multi-model deep learning pipeline, it transforms raw imagery into structured forensic intelligence.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dirty="0"/>
              <a:t> </a:t>
            </a:r>
            <a:r>
              <a:rPr lang="en-US" sz="1600" b="1" dirty="0"/>
              <a:t>The Forensic Challenge:</a:t>
            </a:r>
            <a:r>
              <a:rPr lang="en-US" sz="1600" dirty="0"/>
              <a:t> Traditional manual analysis of crime scene photos is time-consuming, prone to human error, and lacks immediate verification for image tampering.</a:t>
            </a:r>
          </a:p>
          <a:p>
            <a:endParaRPr lang="en-US" sz="1600" dirty="0"/>
          </a:p>
          <a:p>
            <a:r>
              <a:rPr lang="en-US" sz="1600" b="1" dirty="0"/>
              <a:t>Dual-Model Object Detection:</a:t>
            </a:r>
            <a:r>
              <a:rPr lang="en-US" sz="1600" dirty="0"/>
              <a:t> Employs a specialized </a:t>
            </a:r>
            <a:r>
              <a:rPr lang="en-US" sz="1600" b="1" dirty="0"/>
              <a:t>YOLOv8</a:t>
            </a:r>
            <a:r>
              <a:rPr lang="en-US" sz="1600" dirty="0"/>
              <a:t> pipeline—combining a COCO-pretrained model for general context and a custom-trained specialist model for high-precision weapon detection (</a:t>
            </a:r>
            <a:r>
              <a:rPr lang="en-US" sz="1600" b="1" dirty="0"/>
              <a:t>91.1% </a:t>
            </a:r>
            <a:r>
              <a:rPr lang="en-US" sz="1600" b="1" dirty="0" err="1"/>
              <a:t>mAP</a:t>
            </a:r>
            <a:r>
              <a:rPr lang="en-US" sz="1600" dirty="0"/>
              <a:t>).</a:t>
            </a:r>
          </a:p>
          <a:p>
            <a:endParaRPr lang="en-US" sz="1600" dirty="0"/>
          </a:p>
          <a:p>
            <a:r>
              <a:rPr lang="en-US" sz="1600" b="1" dirty="0"/>
              <a:t>Scene Intelligence &amp; Context:</a:t>
            </a:r>
            <a:r>
              <a:rPr lang="en-US" sz="1600" dirty="0"/>
              <a:t> Uses </a:t>
            </a:r>
            <a:r>
              <a:rPr lang="en-US" sz="1600" b="1" dirty="0"/>
              <a:t>EfficientNet-B0</a:t>
            </a:r>
            <a:r>
              <a:rPr lang="en-US" sz="1600" dirty="0"/>
              <a:t> to classify environments into "Violent" vs. "Normal" categories with a validation accuracy of </a:t>
            </a:r>
            <a:r>
              <a:rPr lang="en-US" sz="1600" b="1" dirty="0"/>
              <a:t>99.5%</a:t>
            </a:r>
            <a:r>
              <a:rPr lang="en-US" sz="1600" dirty="0"/>
              <a:t>, providing critical situational context.</a:t>
            </a:r>
          </a:p>
          <a:p>
            <a:endParaRPr lang="en-US" sz="1600" dirty="0"/>
          </a:p>
          <a:p>
            <a:r>
              <a:rPr lang="en-US" sz="1600" b="1" dirty="0"/>
              <a:t>Digital Integrity Verification:</a:t>
            </a:r>
            <a:r>
              <a:rPr lang="en-US" sz="1600" dirty="0"/>
              <a:t> Integrates </a:t>
            </a:r>
            <a:r>
              <a:rPr lang="en-US" sz="1600" b="1" dirty="0"/>
              <a:t>Error Level Analysis (ELA)</a:t>
            </a:r>
            <a:r>
              <a:rPr lang="en-US" sz="1600" dirty="0"/>
              <a:t> to detect pixel-level manipulations, ensuring that the evidence submitted is authentic and court-ready.</a:t>
            </a:r>
          </a:p>
          <a:p>
            <a:endParaRPr lang="en-US" sz="1600" dirty="0"/>
          </a:p>
          <a:p>
            <a:r>
              <a:rPr lang="en-US" sz="1600" b="1" dirty="0"/>
              <a:t>Automated Reporting Engine:</a:t>
            </a:r>
            <a:r>
              <a:rPr lang="en-US" sz="1600" dirty="0"/>
              <a:t> Bridges the gap between AI inference and administrative requirements by auto-generating comprehensive, multi-page </a:t>
            </a:r>
            <a:r>
              <a:rPr lang="en-US" sz="1600" b="1" dirty="0"/>
              <a:t>PDF Forensic Reports</a:t>
            </a:r>
            <a:r>
              <a:rPr lang="en-US" sz="1600" dirty="0"/>
              <a:t> including MD5 hashes and threat scoring.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18BBA2-811F-41E1-AEAF-A3557D1BE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DEC69A3-0958-4FE2-B1B4-1106920B80C0}" type="slidenum">
              <a:rPr lang="en-US" altLang="en-US">
                <a:solidFill>
                  <a:srgbClr val="898989"/>
                </a:solidFill>
              </a:rPr>
              <a:pPr/>
              <a:t>3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43C64E-E448-0AE8-AC06-C25391F172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6264275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E7D5AF-E7FA-CA07-9D90-D8FD812F3F68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 dirty="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28CED-A8D7-449C-97C8-99B08364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Existing System Vs Proposed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6F442-E18B-4635-9FAA-701AD322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5C5A9F0-E73D-4B60-A9C9-5ECD709B9C67}" type="slidenum">
              <a:rPr lang="en-US" altLang="en-US">
                <a:solidFill>
                  <a:srgbClr val="898989"/>
                </a:solidFill>
              </a:rPr>
              <a:pPr/>
              <a:t>4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D90AE2-BDCA-9B3A-4F4B-21D4398447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  <p:graphicFrame>
        <p:nvGraphicFramePr>
          <p:cNvPr id="23" name="Content Placeholder 22">
            <a:extLst>
              <a:ext uri="{FF2B5EF4-FFF2-40B4-BE49-F238E27FC236}">
                <a16:creationId xmlns:a16="http://schemas.microsoft.com/office/drawing/2014/main" id="{7D7E9BCF-10C5-A248-339C-7A9DAE6859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5603740"/>
              </p:ext>
            </p:extLst>
          </p:nvPr>
        </p:nvGraphicFramePr>
        <p:xfrm>
          <a:off x="228600" y="1032165"/>
          <a:ext cx="8763000" cy="53241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3310148167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530245947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171043027"/>
                    </a:ext>
                  </a:extLst>
                </a:gridCol>
              </a:tblGrid>
              <a:tr h="59910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Feature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Existing System (Manual/Basic)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Proposed System (</a:t>
                      </a:r>
                      <a:r>
                        <a:rPr lang="en-IN" sz="14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CrimeSolver</a:t>
                      </a: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844482473"/>
                  </a:ext>
                </a:extLst>
              </a:tr>
              <a:tr h="69264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Analysis Speed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Manual review by forensic experts (hours/days).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Real-time AI Inference</a:t>
                      </a:r>
                      <a:r>
                        <a:rPr lang="en-IN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(seconds).</a:t>
                      </a: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1337883066"/>
                  </a:ext>
                </a:extLst>
              </a:tr>
              <a:tr h="80648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Object Detection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Relies on human observation; prone to oversight.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Dual YOLOv8 Pipeline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(Generalist + Specialist Weapon Detector).</a:t>
                      </a: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2084331590"/>
                  </a:ext>
                </a:extLst>
              </a:tr>
              <a:tr h="80648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Scene Context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Subjective assessment of violence or intent.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EfficientNet-B0 Classifier</a:t>
                      </a: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(99.5% accuracy for violence detection).</a:t>
                      </a: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2197711393"/>
                  </a:ext>
                </a:extLst>
              </a:tr>
              <a:tr h="80648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Authenticity Check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Visual inspection; difficult to detect metadata/pixel edits.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Error Level Analysis (ELA)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&amp; MD5 hashing for tamper detection.</a:t>
                      </a: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3902455746"/>
                  </a:ext>
                </a:extLst>
              </a:tr>
              <a:tr h="80648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Reporting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Manual data entry and documentation.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Auto-generated Forensic PDF Reports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with tactical overlays.</a:t>
                      </a: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53085983"/>
                  </a:ext>
                </a:extLst>
              </a:tr>
              <a:tr h="80648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Risk Assessment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Qualitative/Subjective judgment.</a:t>
                      </a: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Quantitative Threat Scoring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(0-100 scale) for prioritization.</a:t>
                      </a: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3148776328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E7D5AF-E7FA-CA07-9D90-D8FD812F3F68}"/>
              </a:ext>
            </a:extLst>
          </p:cNvPr>
          <p:cNvSpPr txBox="1">
            <a:spLocks/>
          </p:cNvSpPr>
          <p:nvPr/>
        </p:nvSpPr>
        <p:spPr bwMode="auto">
          <a:xfrm>
            <a:off x="161925" y="1141095"/>
            <a:ext cx="8763000" cy="5534025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1600" b="1" dirty="0"/>
          </a:p>
          <a:p>
            <a:pPr fontAlgn="auto">
              <a:spcAft>
                <a:spcPts val="0"/>
              </a:spcAft>
              <a:defRPr/>
            </a:pPr>
            <a:r>
              <a:rPr lang="en-US" sz="1600" b="1" dirty="0"/>
              <a:t>Integration Gap (Workflow Fragmentation):</a:t>
            </a:r>
            <a:r>
              <a:rPr lang="en-US" sz="1600" dirty="0"/>
              <a:t> Current research typically treats </a:t>
            </a:r>
            <a:r>
              <a:rPr lang="en-US" sz="1600" b="1" dirty="0"/>
              <a:t>Object Detection</a:t>
            </a:r>
            <a:r>
              <a:rPr lang="en-US" sz="1600" dirty="0"/>
              <a:t>, </a:t>
            </a:r>
            <a:r>
              <a:rPr lang="en-US" sz="1600" b="1" dirty="0"/>
              <a:t>Scene Classification</a:t>
            </a:r>
            <a:r>
              <a:rPr lang="en-US" sz="1600" dirty="0"/>
              <a:t>, and </a:t>
            </a:r>
            <a:r>
              <a:rPr lang="en-US" sz="1600" b="1" dirty="0"/>
              <a:t>Image Forensics</a:t>
            </a:r>
            <a:r>
              <a:rPr lang="en-US" sz="1600" dirty="0"/>
              <a:t> as isolated tasks. There is a significant lack of unified frameworks that consolidate these into a single, high-speed forensic pipeline.</a:t>
            </a:r>
          </a:p>
          <a:p>
            <a:pPr fontAlgn="auto">
              <a:spcAft>
                <a:spcPts val="0"/>
              </a:spcAft>
              <a:defRPr/>
            </a:pPr>
            <a:endParaRPr lang="en-US" sz="1600" dirty="0"/>
          </a:p>
          <a:p>
            <a:pPr fontAlgn="auto">
              <a:spcAft>
                <a:spcPts val="0"/>
              </a:spcAft>
              <a:defRPr/>
            </a:pPr>
            <a:r>
              <a:rPr lang="en-IN" sz="1600" b="1" dirty="0"/>
              <a:t>Integrity Gap (Authenticity Verification):</a:t>
            </a:r>
            <a:r>
              <a:rPr lang="en-IN" sz="1600" dirty="0"/>
              <a:t> Most AI-based surveillance systems assume the input data is genuine. In a legal context, this is a major vulnerability. Existing models often fail to include </a:t>
            </a:r>
            <a:r>
              <a:rPr lang="en-IN" sz="1600" b="1" dirty="0"/>
              <a:t>Error Level Analysis (ELA)</a:t>
            </a:r>
            <a:r>
              <a:rPr lang="en-IN" sz="1600" dirty="0"/>
              <a:t> to detect pixel-level manipulation or digital tampering before analysis.</a:t>
            </a:r>
          </a:p>
          <a:p>
            <a:pPr fontAlgn="auto">
              <a:spcAft>
                <a:spcPts val="0"/>
              </a:spcAft>
              <a:defRPr/>
            </a:pPr>
            <a:endParaRPr lang="en-IN" sz="1600" dirty="0"/>
          </a:p>
          <a:p>
            <a:pPr fontAlgn="auto">
              <a:spcAft>
                <a:spcPts val="0"/>
              </a:spcAft>
              <a:defRPr/>
            </a:pPr>
            <a:r>
              <a:rPr lang="en-US" sz="1600" b="1" dirty="0"/>
              <a:t>Specialization Gap (Weapon Precision):</a:t>
            </a:r>
            <a:r>
              <a:rPr lang="en-US" sz="1600" dirty="0"/>
              <a:t> General-purpose models (like standard COCO-trained YOLO) often suffer from high False-Negative rates when detecting weapons in cluttered, low-light, or real-world "noisy" environments. There is a need for </a:t>
            </a:r>
            <a:r>
              <a:rPr lang="en-US" sz="1600" b="1" dirty="0"/>
              <a:t>Dual-Model Specialist Pipelines</a:t>
            </a:r>
            <a:r>
              <a:rPr lang="en-US" sz="1600" dirty="0"/>
              <a:t> to increase detection reliability.</a:t>
            </a:r>
          </a:p>
          <a:p>
            <a:pPr fontAlgn="auto">
              <a:spcAft>
                <a:spcPts val="0"/>
              </a:spcAft>
              <a:defRPr/>
            </a:pPr>
            <a:endParaRPr lang="en-US" sz="1600" dirty="0"/>
          </a:p>
          <a:p>
            <a:r>
              <a:rPr lang="en-IN" sz="1600" b="1" dirty="0"/>
              <a:t>Documentation Gap (Legal Admissibility):</a:t>
            </a:r>
            <a:r>
              <a:rPr lang="en-IN" sz="1600" dirty="0"/>
              <a:t> A major gap exists between "AI Inference" (bounding boxes on a screen) and "Forensic Evidence." Existing research lacks automated systems that translate raw AI detections into </a:t>
            </a:r>
            <a:r>
              <a:rPr lang="en-IN" sz="1600" b="1" dirty="0"/>
              <a:t>standardized, professional PDF Forensic Reports</a:t>
            </a:r>
            <a:r>
              <a:rPr lang="en-IN" sz="1600" dirty="0"/>
              <a:t> suitable for law enforcement documentation.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28CED-A8D7-449C-97C8-99B08364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Research Gaps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6F442-E18B-4635-9FAA-701AD322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5C5A9F0-E73D-4B60-A9C9-5ECD709B9C67}" type="slidenum">
              <a:rPr lang="en-US" altLang="en-US">
                <a:solidFill>
                  <a:srgbClr val="898989"/>
                </a:solidFill>
              </a:rPr>
              <a:pPr/>
              <a:t>5</a:t>
            </a:fld>
            <a:endParaRPr lang="en-US" altLang="en-US" dirty="0">
              <a:solidFill>
                <a:srgbClr val="898989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D90AE2-BDCA-9B3A-4F4B-21D4398447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590801" y="658336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  <p:extLst>
      <p:ext uri="{BB962C8B-B14F-4D97-AF65-F5344CB8AC3E}">
        <p14:creationId xmlns:p14="http://schemas.microsoft.com/office/powerpoint/2010/main" val="278657901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28CED-A8D7-449C-97C8-99B08364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Problem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96F442-E18B-4635-9FAA-701AD322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5C5A9F0-E73D-4B60-A9C9-5ECD709B9C67}" type="slidenum">
              <a:rPr lang="en-US" altLang="en-US">
                <a:solidFill>
                  <a:srgbClr val="898989"/>
                </a:solidFill>
              </a:rPr>
              <a:pPr/>
              <a:t>6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D6B6BA2-8763-4063-9DAF-378FCB0B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622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REVIEW-1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D90AE2-BDCA-9B3A-4F4B-21D4398447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E7D5AF-E7FA-CA07-9D90-D8FD812F3F68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/>
              <a:t>Traditional forensic image analysis faces critical bottlenecks that hinder effective criminal investigations and legal accountability:</a:t>
            </a:r>
          </a:p>
          <a:p>
            <a:r>
              <a:rPr lang="en-US" sz="1600" b="1" dirty="0"/>
              <a:t>Manual Inefficiency:</a:t>
            </a:r>
            <a:r>
              <a:rPr lang="en-US" sz="1600" dirty="0"/>
              <a:t> Manual review of high-volume digital evidence is slow and susceptible to </a:t>
            </a:r>
            <a:r>
              <a:rPr lang="en-US" sz="1600" b="1" dirty="0"/>
              <a:t>human fatigue</a:t>
            </a:r>
            <a:r>
              <a:rPr lang="en-US" sz="1600" dirty="0"/>
              <a:t>, leading to delays in time-sensitive investigations.</a:t>
            </a:r>
          </a:p>
          <a:p>
            <a:endParaRPr lang="en-US" sz="1600" dirty="0"/>
          </a:p>
          <a:p>
            <a:r>
              <a:rPr lang="en-US" sz="1600" b="1" dirty="0"/>
              <a:t>Contextual Subjectivity:</a:t>
            </a:r>
            <a:r>
              <a:rPr lang="en-US" sz="1600" dirty="0"/>
              <a:t> Human analysts may lack consistent criteria for assessing </a:t>
            </a:r>
            <a:r>
              <a:rPr lang="en-US" sz="1600" b="1" dirty="0"/>
              <a:t>scene severity</a:t>
            </a:r>
            <a:r>
              <a:rPr lang="en-US" sz="1600" dirty="0"/>
              <a:t>, resulting in subjective and inconsistent threat evaluations.</a:t>
            </a:r>
          </a:p>
          <a:p>
            <a:endParaRPr lang="en-US" sz="1600" dirty="0"/>
          </a:p>
          <a:p>
            <a:r>
              <a:rPr lang="en-US" sz="1600" b="1" dirty="0"/>
              <a:t>Evidence Vulnerability:</a:t>
            </a:r>
            <a:r>
              <a:rPr lang="en-US" sz="1600" dirty="0"/>
              <a:t> The rising ease of digital manipulation (Deepfakes/Photoshop) poses a severe risk to </a:t>
            </a:r>
            <a:r>
              <a:rPr lang="en-US" sz="1600" b="1" dirty="0"/>
              <a:t>evidentiary integrity</a:t>
            </a:r>
            <a:r>
              <a:rPr lang="en-US" sz="1600" dirty="0"/>
              <a:t>, with no standard real-time tool for detecting pixel-level tampering in a forensic workflow.</a:t>
            </a:r>
          </a:p>
          <a:p>
            <a:endParaRPr lang="en-US" sz="1600" dirty="0"/>
          </a:p>
          <a:p>
            <a:r>
              <a:rPr lang="en-US" sz="1600" b="1" dirty="0"/>
              <a:t>Weapon Identification Failure:</a:t>
            </a:r>
            <a:r>
              <a:rPr lang="en-US" sz="1600" dirty="0"/>
              <a:t> Generic detection systems often struggle with </a:t>
            </a:r>
            <a:r>
              <a:rPr lang="en-US" sz="1600" b="1" dirty="0"/>
              <a:t>weapon-specific precision</a:t>
            </a:r>
            <a:r>
              <a:rPr lang="en-US" sz="1600" dirty="0"/>
              <a:t> in cluttered crime scenes, leading to potentially dangerous misclassifications.</a:t>
            </a:r>
          </a:p>
          <a:p>
            <a:endParaRPr lang="en-US" sz="1600" dirty="0"/>
          </a:p>
          <a:p>
            <a:r>
              <a:rPr lang="en-US" sz="1600" b="1" dirty="0"/>
              <a:t>Documentation Lag:</a:t>
            </a:r>
            <a:r>
              <a:rPr lang="en-US" sz="1600" dirty="0"/>
              <a:t> There is a lack of automated tools that bridge the gap between AI inference and the generation of </a:t>
            </a:r>
            <a:r>
              <a:rPr lang="en-US" sz="1600" b="1" dirty="0"/>
              <a:t>standardized, professional reports</a:t>
            </a:r>
            <a:r>
              <a:rPr lang="en-US" sz="1600" dirty="0"/>
              <a:t> required for judicial proceedings.</a:t>
            </a:r>
          </a:p>
          <a:p>
            <a:pPr marL="0" indent="0">
              <a:buNone/>
            </a:pPr>
            <a:r>
              <a:rPr lang="en-US" sz="1600" dirty="0"/>
              <a:t>The lack of an integrated, automated, and verifiable image analysis framework creates a critical gap in rapid forensic decision-making and legal reliability.</a:t>
            </a: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590800" y="6561931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  <p:extLst>
      <p:ext uri="{BB962C8B-B14F-4D97-AF65-F5344CB8AC3E}">
        <p14:creationId xmlns:p14="http://schemas.microsoft.com/office/powerpoint/2010/main" val="3571551261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24ACF-E93E-429C-B571-59A1E5F85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Proposed 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18A44-8ABC-42DF-9BB1-E9A15FE0BC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sz="1600" dirty="0"/>
              <a:t>The primary objective of </a:t>
            </a:r>
            <a:r>
              <a:rPr lang="en-US" sz="1600" b="1" dirty="0" err="1"/>
              <a:t>CrimeSolver</a:t>
            </a:r>
            <a:r>
              <a:rPr lang="en-US" sz="1600" dirty="0"/>
              <a:t> is to develop a robust, end-to-end AI framework for forensic image analysis that achieves the following: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1600" b="1" dirty="0"/>
              <a:t>Implement a Dual-Model Detection Pipeline:</a:t>
            </a:r>
            <a:r>
              <a:rPr lang="en-US" sz="1600" dirty="0"/>
              <a:t> To integrate a COCO-pretrained YOLOv8s with a custom-trained weapon specialist model for high-precision identification of firearms and tactical threats.</a:t>
            </a:r>
          </a:p>
          <a:p>
            <a:pPr fontAlgn="auto">
              <a:spcAft>
                <a:spcPts val="0"/>
              </a:spcAft>
              <a:defRPr/>
            </a:pPr>
            <a:endParaRPr lang="en-US" sz="1600" dirty="0"/>
          </a:p>
          <a:p>
            <a:pPr fontAlgn="auto">
              <a:spcAft>
                <a:spcPts val="0"/>
              </a:spcAft>
              <a:defRPr/>
            </a:pPr>
            <a:r>
              <a:rPr lang="en-US" sz="1600" b="1" dirty="0"/>
              <a:t>Develop Automated Scene Intelligence:</a:t>
            </a:r>
            <a:r>
              <a:rPr lang="en-US" sz="1600" dirty="0"/>
              <a:t> To utilize EfficientNet-B0 for binary classification of "Violent" vs. "Normal" scenes, providing immediate situational context to investigators.</a:t>
            </a:r>
          </a:p>
          <a:p>
            <a:pPr fontAlgn="auto">
              <a:spcAft>
                <a:spcPts val="0"/>
              </a:spcAft>
              <a:defRPr/>
            </a:pPr>
            <a:endParaRPr lang="en-US" sz="1600" dirty="0"/>
          </a:p>
          <a:p>
            <a:pPr fontAlgn="auto">
              <a:spcAft>
                <a:spcPts val="0"/>
              </a:spcAft>
              <a:defRPr/>
            </a:pPr>
            <a:r>
              <a:rPr lang="en-US" sz="1600" b="1" dirty="0"/>
              <a:t>Integrate Digital Evidence Verification:</a:t>
            </a:r>
            <a:r>
              <a:rPr lang="en-US" sz="1600" dirty="0"/>
              <a:t> To incorporate </a:t>
            </a:r>
            <a:r>
              <a:rPr lang="en-US" sz="1600" b="1" dirty="0"/>
              <a:t>Error Level Analysis (ELA)</a:t>
            </a:r>
            <a:r>
              <a:rPr lang="en-US" sz="1600" dirty="0"/>
              <a:t> and MD5 hashing protocols to detect pixel-level manipulations and ensure evidentiary integrity.</a:t>
            </a:r>
          </a:p>
          <a:p>
            <a:pPr fontAlgn="auto">
              <a:spcAft>
                <a:spcPts val="0"/>
              </a:spcAft>
              <a:defRPr/>
            </a:pPr>
            <a:endParaRPr lang="en-US" sz="1600" dirty="0"/>
          </a:p>
          <a:p>
            <a:pPr fontAlgn="auto">
              <a:spcAft>
                <a:spcPts val="0"/>
              </a:spcAft>
              <a:defRPr/>
            </a:pPr>
            <a:r>
              <a:rPr lang="en-US" sz="1600" b="1" dirty="0"/>
              <a:t>Establish a Quantitative Threat Scoring System:</a:t>
            </a:r>
            <a:r>
              <a:rPr lang="en-US" sz="1600" dirty="0"/>
              <a:t> To create a heuristic-based algorithm that calculates a 0–100 threat score based on detected objects, scene context, and authenticity.</a:t>
            </a:r>
          </a:p>
          <a:p>
            <a:pPr fontAlgn="auto">
              <a:spcAft>
                <a:spcPts val="0"/>
              </a:spcAft>
              <a:defRPr/>
            </a:pPr>
            <a:endParaRPr lang="en-US" sz="1600" dirty="0"/>
          </a:p>
          <a:p>
            <a:pPr fontAlgn="auto">
              <a:spcAft>
                <a:spcPts val="0"/>
              </a:spcAft>
              <a:defRPr/>
            </a:pPr>
            <a:r>
              <a:rPr lang="en-US" sz="1600" b="1" dirty="0"/>
              <a:t>Automate Forensic Documentation:</a:t>
            </a:r>
            <a:r>
              <a:rPr lang="en-US" sz="1600" dirty="0"/>
              <a:t> To build a system that auto-generates professional, multi-page PDF forensic reports containing metadata, annotated evidence, and analysis summaries.</a:t>
            </a:r>
          </a:p>
          <a:p>
            <a:pPr fontAlgn="auto">
              <a:spcAft>
                <a:spcPts val="0"/>
              </a:spcAft>
              <a:defRPr/>
            </a:pPr>
            <a:endParaRPr lang="en-US" sz="1600" dirty="0"/>
          </a:p>
          <a:p>
            <a:pPr fontAlgn="auto">
              <a:spcAft>
                <a:spcPts val="0"/>
              </a:spcAft>
              <a:defRPr/>
            </a:pPr>
            <a:r>
              <a:rPr lang="en-US" sz="1600" b="1" dirty="0"/>
              <a:t>Create a Centralized Case Management Dashboard:</a:t>
            </a:r>
            <a:r>
              <a:rPr lang="en-US" sz="1600" dirty="0"/>
              <a:t> To develop a full-stack interface (React + </a:t>
            </a:r>
            <a:r>
              <a:rPr lang="en-US" sz="1600" dirty="0" err="1"/>
              <a:t>FastAPI</a:t>
            </a:r>
            <a:r>
              <a:rPr lang="en-US" sz="1600" dirty="0"/>
              <a:t>) for searching, filtering, and archiving analyzed forensic cases.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4F6A7-E80B-4C13-8FAA-7BE38155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3C13DFD-FA58-48AD-B109-2C30D8D6F058}" type="slidenum">
              <a:rPr lang="en-US" altLang="en-US">
                <a:solidFill>
                  <a:srgbClr val="898989"/>
                </a:solidFill>
              </a:rPr>
              <a:pPr/>
              <a:t>7</a:t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D567A5-0A6B-AFA0-3540-53A824978C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438400" y="657066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3200" b="1" dirty="0">
                <a:solidFill>
                  <a:srgbClr val="C00000"/>
                </a:solidFill>
              </a:rPr>
              <a:t>Proposed Project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1252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/>
              <a:t>The implementation of the </a:t>
            </a:r>
            <a:r>
              <a:rPr lang="en-US" sz="1600" b="1" dirty="0" err="1"/>
              <a:t>CrimeSolver</a:t>
            </a:r>
            <a:r>
              <a:rPr lang="en-US" sz="1600" dirty="0"/>
              <a:t> framework yields the following measurable and impactful outcomes: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b="1" dirty="0"/>
              <a:t>High-Precision Detection:</a:t>
            </a:r>
            <a:r>
              <a:rPr lang="en-US" sz="1600" dirty="0"/>
              <a:t> A specialized dual-model YOLOv8 pipeline achieving a </a:t>
            </a:r>
            <a:r>
              <a:rPr lang="en-US" sz="1600" b="1" dirty="0"/>
              <a:t>91.1% mAP@50</a:t>
            </a:r>
            <a:r>
              <a:rPr lang="en-US" sz="1600" dirty="0"/>
              <a:t> for firearm detection and reliable identification of 80+ COCO object classes.</a:t>
            </a:r>
          </a:p>
          <a:p>
            <a:endParaRPr lang="en-US" sz="1600" dirty="0"/>
          </a:p>
          <a:p>
            <a:r>
              <a:rPr lang="en-US" sz="1600" b="1" dirty="0"/>
              <a:t>Accurate Scene Contextualization:</a:t>
            </a:r>
            <a:r>
              <a:rPr lang="en-US" sz="1600" dirty="0"/>
              <a:t> An EfficientNet-B0 classifier providing </a:t>
            </a:r>
            <a:r>
              <a:rPr lang="en-US" sz="1600" b="1" dirty="0"/>
              <a:t>99.5% validation accuracy</a:t>
            </a:r>
            <a:r>
              <a:rPr lang="en-US" sz="1600" dirty="0"/>
              <a:t> in distinguishing between violent and normal situational imagery.</a:t>
            </a:r>
          </a:p>
          <a:p>
            <a:endParaRPr lang="en-US" sz="1600" dirty="0"/>
          </a:p>
          <a:p>
            <a:r>
              <a:rPr lang="en-US" sz="1600" b="1" dirty="0"/>
              <a:t>Verified Evidentiary Integrity: </a:t>
            </a:r>
            <a:r>
              <a:rPr lang="en-US" sz="1600" dirty="0"/>
              <a:t>A robust authentication layer using </a:t>
            </a:r>
            <a:r>
              <a:rPr lang="en-US" sz="1600" b="1" dirty="0"/>
              <a:t>Error Level Analysis (ELA)</a:t>
            </a:r>
            <a:r>
              <a:rPr lang="en-US" sz="1600" dirty="0"/>
              <a:t> to pinpoint pixel-level manipulations, alongside MD5 hashing for digital chain-of-custody.</a:t>
            </a:r>
          </a:p>
          <a:p>
            <a:endParaRPr lang="en-US" sz="1600" dirty="0"/>
          </a:p>
          <a:p>
            <a:r>
              <a:rPr lang="en-US" sz="1600" b="1" dirty="0"/>
              <a:t>Standardized Forensic Documentation:</a:t>
            </a:r>
            <a:r>
              <a:rPr lang="en-US" sz="1600" dirty="0"/>
              <a:t> Instant generation of professional </a:t>
            </a:r>
            <a:r>
              <a:rPr lang="en-US" sz="1600" b="1" dirty="0"/>
              <a:t>PDF Forensic Reports</a:t>
            </a:r>
            <a:r>
              <a:rPr lang="en-US" sz="1600" dirty="0"/>
              <a:t>, reducing administrative overhead for law enforcement by over 90%.</a:t>
            </a:r>
          </a:p>
          <a:p>
            <a:endParaRPr lang="en-US" sz="1600" dirty="0"/>
          </a:p>
          <a:p>
            <a:r>
              <a:rPr lang="en-US" sz="1600" b="1" dirty="0"/>
              <a:t>Prioritized Threat Assessment:</a:t>
            </a:r>
            <a:r>
              <a:rPr lang="en-US" sz="1600" dirty="0"/>
              <a:t> A data-driven </a:t>
            </a:r>
            <a:r>
              <a:rPr lang="en-US" sz="1600" b="1" dirty="0"/>
              <a:t>Threat Scoring System (0–100)</a:t>
            </a:r>
            <a:r>
              <a:rPr lang="en-US" sz="1600" dirty="0"/>
              <a:t> that allows investigators to filter and act on "CRITICAL" cases immediately.</a:t>
            </a:r>
          </a:p>
          <a:p>
            <a:endParaRPr lang="en-US" sz="1600" dirty="0"/>
          </a:p>
          <a:p>
            <a:r>
              <a:rPr lang="en-US" sz="1600" b="1" dirty="0"/>
              <a:t>Scalable Case Management:</a:t>
            </a:r>
            <a:r>
              <a:rPr lang="en-US" sz="1600" dirty="0"/>
              <a:t> A full-stack (React/</a:t>
            </a:r>
            <a:r>
              <a:rPr lang="en-US" sz="1600" dirty="0" err="1"/>
              <a:t>FastAPI</a:t>
            </a:r>
            <a:r>
              <a:rPr lang="en-US" sz="1600" dirty="0"/>
              <a:t>) repository capable of archiving, searching, and filtering historical forensic data for long-term investigation tracking.</a:t>
            </a:r>
            <a:endParaRPr lang="en-US" sz="1600" b="1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E2FDDD-2424-0E7F-DD96-199FAF1E2F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590801" y="658336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3200" b="1" dirty="0">
                <a:solidFill>
                  <a:srgbClr val="C00000"/>
                </a:solidFill>
              </a:rPr>
              <a:t>Software and 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1" dirty="0"/>
              <a:t>Software Requirements :</a:t>
            </a:r>
          </a:p>
          <a:p>
            <a:pPr marL="0" indent="0">
              <a:buNone/>
            </a:pPr>
            <a:endParaRPr lang="en-IN" sz="1600" b="1" dirty="0"/>
          </a:p>
          <a:p>
            <a:r>
              <a:rPr lang="en-IN" sz="1600" b="1" dirty="0"/>
              <a:t>Operating System:</a:t>
            </a:r>
            <a:r>
              <a:rPr lang="en-IN" sz="1600" dirty="0"/>
              <a:t> Windows 10/11 or Ubuntu 20.04+ (Linux)</a:t>
            </a:r>
          </a:p>
          <a:p>
            <a:r>
              <a:rPr lang="en-IN" sz="1600" b="1" dirty="0"/>
              <a:t>Programming Language:</a:t>
            </a:r>
            <a:r>
              <a:rPr lang="en-IN" sz="1600" dirty="0"/>
              <a:t> Python 3.10+</a:t>
            </a:r>
          </a:p>
          <a:p>
            <a:r>
              <a:rPr lang="en-IN" sz="1600" b="1" dirty="0"/>
              <a:t>Frontend Framework:</a:t>
            </a:r>
            <a:r>
              <a:rPr lang="en-IN" sz="1600" dirty="0"/>
              <a:t> React 18.x (JavaScript/Node.js)</a:t>
            </a:r>
          </a:p>
          <a:p>
            <a:r>
              <a:rPr lang="en-IN" sz="1600" b="1" dirty="0"/>
              <a:t>Backend Framework:</a:t>
            </a:r>
            <a:r>
              <a:rPr lang="en-IN" sz="1600" dirty="0"/>
              <a:t> </a:t>
            </a:r>
            <a:r>
              <a:rPr lang="en-IN" sz="1600" dirty="0" err="1"/>
              <a:t>FastAPI</a:t>
            </a:r>
            <a:r>
              <a:rPr lang="en-IN" sz="1600" dirty="0"/>
              <a:t> (Asynchronous Python)</a:t>
            </a:r>
          </a:p>
          <a:p>
            <a:r>
              <a:rPr lang="en-IN" sz="1600" b="1" dirty="0"/>
              <a:t>AI/ML Libraries:</a:t>
            </a:r>
            <a:r>
              <a:rPr lang="en-IN" sz="1600" dirty="0"/>
              <a:t> </a:t>
            </a:r>
            <a:r>
              <a:rPr lang="en-IN" sz="1600" dirty="0" err="1"/>
              <a:t>PyTorch</a:t>
            </a:r>
            <a:r>
              <a:rPr lang="en-IN" sz="1600" dirty="0"/>
              <a:t>, </a:t>
            </a:r>
            <a:r>
              <a:rPr lang="en-IN" sz="1600" dirty="0" err="1"/>
              <a:t>Ultralytics</a:t>
            </a:r>
            <a:r>
              <a:rPr lang="en-IN" sz="1600" dirty="0"/>
              <a:t> (YOLOv8), </a:t>
            </a:r>
            <a:r>
              <a:rPr lang="en-IN" sz="1600" dirty="0" err="1"/>
              <a:t>Torchvision</a:t>
            </a:r>
            <a:endParaRPr lang="en-IN" sz="1600" dirty="0"/>
          </a:p>
          <a:p>
            <a:r>
              <a:rPr lang="en-IN" sz="1600" b="1" dirty="0"/>
              <a:t>Image Processing:</a:t>
            </a:r>
            <a:r>
              <a:rPr lang="en-IN" sz="1600" dirty="0"/>
              <a:t> OpenCV 4.13.x, Pillow (PIL)</a:t>
            </a:r>
          </a:p>
          <a:p>
            <a:r>
              <a:rPr lang="en-IN" sz="1600" b="1" dirty="0"/>
              <a:t>Reporting &amp; PDF:</a:t>
            </a:r>
            <a:r>
              <a:rPr lang="en-IN" sz="1600" dirty="0"/>
              <a:t> </a:t>
            </a:r>
            <a:r>
              <a:rPr lang="en-IN" sz="1600" dirty="0" err="1"/>
              <a:t>ReportLab</a:t>
            </a:r>
            <a:r>
              <a:rPr lang="en-IN" sz="1600" dirty="0"/>
              <a:t> 4.x</a:t>
            </a:r>
          </a:p>
          <a:p>
            <a:r>
              <a:rPr lang="en-IN" sz="1600" b="1" dirty="0"/>
              <a:t>Database:</a:t>
            </a:r>
            <a:r>
              <a:rPr lang="en-IN" sz="1600" dirty="0"/>
              <a:t> SQLite 3 (Lightweight Relational Storage)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b="1" dirty="0"/>
              <a:t>Hardware Requirements:</a:t>
            </a:r>
          </a:p>
          <a:p>
            <a:pPr marL="0" indent="0">
              <a:buNone/>
            </a:pPr>
            <a:endParaRPr lang="en-IN" sz="1600" b="1" dirty="0"/>
          </a:p>
          <a:p>
            <a:r>
              <a:rPr lang="en-IN" sz="1600" b="1" dirty="0"/>
              <a:t>Processor:</a:t>
            </a:r>
            <a:r>
              <a:rPr lang="en-IN" sz="1600" dirty="0"/>
              <a:t> Intel Core i5 / AMD </a:t>
            </a:r>
            <a:r>
              <a:rPr lang="en-IN" sz="1600" dirty="0" err="1"/>
              <a:t>Ryzen</a:t>
            </a:r>
            <a:r>
              <a:rPr lang="en-IN" sz="1600" dirty="0"/>
              <a:t> 5 or higher (minimum 4 cores)</a:t>
            </a:r>
          </a:p>
          <a:p>
            <a:r>
              <a:rPr lang="en-IN" sz="1600" b="1" dirty="0"/>
              <a:t>Memory (RAM):</a:t>
            </a:r>
            <a:r>
              <a:rPr lang="en-IN" sz="1600" dirty="0"/>
              <a:t> 8GB DDR4 (16GB recommended for heavy inference)</a:t>
            </a:r>
          </a:p>
          <a:p>
            <a:r>
              <a:rPr lang="en-IN" sz="1600" b="1" dirty="0"/>
              <a:t>Graphics (GPU):</a:t>
            </a:r>
            <a:r>
              <a:rPr lang="en-IN" sz="1600" dirty="0"/>
              <a:t> NVIDIA GTX 1650 or higher (CUDA 11.x support) for real-time inference speed.</a:t>
            </a:r>
          </a:p>
          <a:p>
            <a:r>
              <a:rPr lang="en-IN" sz="1600" b="1" dirty="0"/>
              <a:t>Storage:</a:t>
            </a:r>
            <a:r>
              <a:rPr lang="en-IN" sz="1600" dirty="0"/>
              <a:t> 5GB+ (Application, model weights, and forensic case storage)</a:t>
            </a:r>
          </a:p>
          <a:p>
            <a:r>
              <a:rPr lang="en-IN" sz="1600" b="1" dirty="0"/>
              <a:t>Display:</a:t>
            </a:r>
            <a:r>
              <a:rPr lang="en-IN" sz="1600" dirty="0"/>
              <a:t> 1920x1080 resolution (for optimal dashboard layout)</a:t>
            </a:r>
          </a:p>
          <a:p>
            <a:pPr>
              <a:buNone/>
            </a:pPr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C52FED-457C-B8CE-592D-306D226723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628900" y="65389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4" y="272283"/>
            <a:ext cx="7638305" cy="611161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3200" b="1" dirty="0">
                <a:solidFill>
                  <a:srgbClr val="C00000"/>
                </a:solidFill>
              </a:rPr>
              <a:t>Architectural Diagram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105400" y="607394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/>
              <a:pPr/>
              <a:t>10</a:t>
            </a:fld>
            <a:endParaRPr lang="en-US" dirty="0"/>
          </a:p>
        </p:txBody>
      </p:sp>
      <p:sp>
        <p:nvSpPr>
          <p:cNvPr id="34" name="Content Placeholder 3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6DD126-8543-7714-EE4A-27D656E670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53F79F9-1FE0-3DCC-383B-AD9CC039F066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/>
            </a:endParaRPr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5E225C-7E78-B988-14DE-9DCF70A09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5851"/>
            <a:ext cx="8991600" cy="58492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295E95-56C2-09DD-08E3-A991795E4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423" y="6538579"/>
            <a:ext cx="2133785" cy="36579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PROPOSED METHOD AND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11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511E57-5637-4D94-05DC-943799E81D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53F79F9-1FE0-3DCC-383B-AD9CC039F066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AutoNum type="arabicPeriod"/>
              <a:defRPr/>
            </a:pPr>
            <a:r>
              <a:rPr lang="en-US" sz="1600" b="1" dirty="0"/>
              <a:t>Dual-Model Object Detection (YOLOv8s Pipeline):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1600" b="1" dirty="0"/>
              <a:t>Algorithm:</a:t>
            </a:r>
            <a:r>
              <a:rPr lang="en-US" sz="1600" dirty="0"/>
              <a:t> You use a modified YOLOv8 architecture that performs </a:t>
            </a:r>
            <a:r>
              <a:rPr lang="en-US" sz="1600" b="1" dirty="0"/>
              <a:t>Non-Maximum Suppression (NMS)</a:t>
            </a:r>
            <a:r>
              <a:rPr lang="en-US" sz="1600" dirty="0"/>
              <a:t> across two models.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1600" b="1" dirty="0"/>
              <a:t>Mechanism: </a:t>
            </a:r>
            <a:r>
              <a:rPr lang="en-US" sz="1600" dirty="0"/>
              <a:t>The </a:t>
            </a:r>
            <a:r>
              <a:rPr lang="en-US" sz="1600" b="1" dirty="0"/>
              <a:t>COCO model </a:t>
            </a:r>
            <a:r>
              <a:rPr lang="en-US" sz="1600" dirty="0"/>
              <a:t>identifies 80 common classes, While  the Custom </a:t>
            </a:r>
            <a:r>
              <a:rPr lang="en-US" sz="1600" b="1" dirty="0"/>
              <a:t>Gun Model </a:t>
            </a:r>
            <a:r>
              <a:rPr lang="en-US" sz="1600" dirty="0"/>
              <a:t>identifies firearms.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1600" b="1" dirty="0" err="1"/>
              <a:t>IoU</a:t>
            </a:r>
            <a:r>
              <a:rPr lang="en-US" sz="1600" b="1" dirty="0"/>
              <a:t> Deduplication:</a:t>
            </a:r>
            <a:r>
              <a:rPr lang="en-US" sz="1600" dirty="0"/>
              <a:t> To prevent redundant bounding boxes, an </a:t>
            </a:r>
            <a:r>
              <a:rPr lang="en-US" sz="1600" b="1" dirty="0"/>
              <a:t>Intersection over Union (</a:t>
            </a:r>
            <a:r>
              <a:rPr lang="en-US" sz="1600" b="1" dirty="0" err="1"/>
              <a:t>IoU</a:t>
            </a:r>
            <a:r>
              <a:rPr lang="en-US" sz="1600" b="1" dirty="0"/>
              <a:t>)</a:t>
            </a:r>
            <a:r>
              <a:rPr lang="en-US" sz="1600" dirty="0"/>
              <a:t> check is performed to merge overlapping detections from both models.</a:t>
            </a:r>
          </a:p>
          <a:p>
            <a:pPr fontAlgn="auto">
              <a:spcAft>
                <a:spcPts val="0"/>
              </a:spcAft>
              <a:defRPr/>
            </a:pPr>
            <a:endParaRPr lang="en-US" sz="1600" dirty="0"/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IN" sz="1600" b="1" dirty="0"/>
              <a:t>2. Scene Classification (EfficientNet-B0):</a:t>
            </a:r>
          </a:p>
          <a:p>
            <a:pPr fontAlgn="auto">
              <a:spcAft>
                <a:spcPts val="0"/>
              </a:spcAft>
              <a:defRPr/>
            </a:pPr>
            <a:r>
              <a:rPr lang="en-IN" sz="1600" b="1" dirty="0"/>
              <a:t>Algorithm:</a:t>
            </a:r>
            <a:r>
              <a:rPr lang="en-IN" sz="1600" dirty="0"/>
              <a:t> Uses </a:t>
            </a:r>
            <a:r>
              <a:rPr lang="en-IN" sz="1600" b="1" dirty="0" err="1"/>
              <a:t>MBConv</a:t>
            </a:r>
            <a:r>
              <a:rPr lang="en-IN" sz="1600" b="1" dirty="0"/>
              <a:t> (Mobile Inverted Bottleneck Convolution)</a:t>
            </a:r>
            <a:r>
              <a:rPr lang="en-IN" sz="1600" dirty="0"/>
              <a:t> blocks to maximize accuracy while minimizing computational load.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1600" b="1" dirty="0"/>
              <a:t>Logic:</a:t>
            </a:r>
            <a:r>
              <a:rPr lang="en-US" sz="1600" dirty="0"/>
              <a:t> The model extracts deep spatial features to perform </a:t>
            </a:r>
            <a:r>
              <a:rPr lang="en-US" sz="1600" b="1" dirty="0"/>
              <a:t>Binary Logistic Regression</a:t>
            </a:r>
            <a:r>
              <a:rPr lang="en-US" sz="1600" dirty="0"/>
              <a:t> (</a:t>
            </a:r>
            <a:r>
              <a:rPr lang="en-US" sz="1600" dirty="0" err="1"/>
              <a:t>Softmax</a:t>
            </a:r>
            <a:r>
              <a:rPr lang="en-US" sz="1600" dirty="0"/>
              <a:t>) on the output, classifying the scene as "Violence" or "Normal" with 99.5% accuracy.</a:t>
            </a:r>
          </a:p>
          <a:p>
            <a:pPr fontAlgn="auto">
              <a:spcAft>
                <a:spcPts val="0"/>
              </a:spcAft>
              <a:defRPr/>
            </a:pPr>
            <a:endParaRPr lang="en-US" sz="1600" dirty="0"/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IN" sz="1600" b="1" dirty="0"/>
              <a:t>3. Digital Forensic Integrity (Error Level Analysis - ELA):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1600" b="1" dirty="0">
                <a:cs typeface="Calibri"/>
              </a:rPr>
              <a:t>Algorithm: </a:t>
            </a:r>
            <a:r>
              <a:rPr lang="en-US" sz="1600" dirty="0">
                <a:cs typeface="Calibri"/>
              </a:rPr>
              <a:t>Based on JPEG Compression Inconsistency Detection.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1600" b="1" dirty="0"/>
              <a:t>Process:</a:t>
            </a:r>
            <a:r>
              <a:rPr lang="en-US" sz="1600" dirty="0"/>
              <a:t> The image is resaved at a known compression level (e.g., 95%), and the pixel-wise difference between the original and the resaved version is calculated.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1600" b="1" dirty="0"/>
              <a:t>Inference:</a:t>
            </a:r>
            <a:r>
              <a:rPr lang="en-US" sz="1600" dirty="0"/>
              <a:t> Areas with high "Error Levels" (bright spots in the ELA map) indicate localized digital manipulation or "Photoshop" edits.</a:t>
            </a:r>
            <a:endParaRPr lang="en-US" sz="1600" b="1" dirty="0">
              <a:cs typeface="Calibri"/>
            </a:endParaRP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628900" y="6545455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11353E-D236-1D2A-51D1-9C9B718E3E49}"/>
              </a:ext>
            </a:extLst>
          </p:cNvPr>
          <p:cNvSpPr txBox="1"/>
          <p:nvPr/>
        </p:nvSpPr>
        <p:spPr>
          <a:xfrm>
            <a:off x="4267200" y="658542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 fontAlgn="base">
              <a:buNone/>
            </a:pPr>
            <a:r>
              <a:rPr lang="en-US" sz="1800" kern="1200" dirty="0"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11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5962246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Results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12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511E57-5637-4D94-05DC-943799E81D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REVIEW-4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53F79F9-1FE0-3DCC-383B-AD9CC039F066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  <a:defRPr/>
            </a:pPr>
            <a:endParaRPr lang="en-US" sz="1600" dirty="0">
              <a:cs typeface="Calibri"/>
            </a:endParaRPr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590800" y="6561931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198193-0634-42E8-CD49-9ABE9D45F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07624"/>
            <a:ext cx="8763000" cy="552177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97D832F-6147-0576-E22E-0B267C7BC0BF}"/>
              </a:ext>
            </a:extLst>
          </p:cNvPr>
          <p:cNvSpPr txBox="1"/>
          <p:nvPr/>
        </p:nvSpPr>
        <p:spPr>
          <a:xfrm>
            <a:off x="4434016" y="655982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 fontAlgn="base">
              <a:buNone/>
            </a:pPr>
            <a:r>
              <a:rPr lang="en-US" sz="1800" kern="1200" dirty="0"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Arial" panose="020B0604020202020204" pitchFamily="34" charset="0"/>
              </a:rPr>
              <a:t>12</a:t>
            </a:r>
            <a:endParaRPr lang="en-IN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2966090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08FAD-C83B-F5E0-3DCD-3BD69F6B1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84DD0-3543-D626-9009-D70251FFB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Results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2F7E7-2C00-3215-F61F-D84F27D60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13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CF09348-09AC-917C-965C-891AD4C33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732F93-E802-19AD-FF31-B39F3DEA3A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5B39F9-54D5-9430-5226-10264690B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REVIEW-4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95ACE3B-1210-E94B-A09D-ADF9903BD476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  <a:defRPr/>
            </a:pPr>
            <a:endParaRPr lang="en-US" sz="1600" dirty="0">
              <a:cs typeface="Calibri"/>
            </a:endParaRPr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F76F4734-4B02-7696-7507-56C777A3C0A3}"/>
              </a:ext>
            </a:extLst>
          </p:cNvPr>
          <p:cNvSpPr txBox="1">
            <a:spLocks/>
          </p:cNvSpPr>
          <p:nvPr/>
        </p:nvSpPr>
        <p:spPr>
          <a:xfrm>
            <a:off x="2590800" y="6561931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C8A739-38B9-FAB8-A9CB-89977C3FA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66800"/>
            <a:ext cx="8763000" cy="56083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4F0C12-22DA-52DA-7146-88318969F7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3994" y="6639530"/>
            <a:ext cx="341406" cy="32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7162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4081F-A202-B4E3-0F1D-70F4ABE7E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14D47-78D7-5BD6-2BCF-DF9B1BA18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Results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DF8EB9-6AA1-5007-D4F8-364232EED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14</a:t>
            </a:fld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6352FD5-BFEE-E07D-EFFD-E6F62B5FD94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2293461"/>
          <a:ext cx="8229600" cy="31394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683682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8622196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1722025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Metric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Value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Model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958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Violence Detection Accuracy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99.5%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EfficientNet-B0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5285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Weapon Detection (mAP50)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91.1%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YOLOv8s (Custom)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160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Detection Precision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87.8%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YOLOv8s (Custom)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812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Inference Speed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~150ms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Full Pipeline (ONNX)</a:t>
                      </a:r>
                    </a:p>
                  </a:txBody>
                  <a:tcPr marT="121920" marB="12192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38625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8C7C480-724E-D311-4923-0D152934D6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DE40F20-3373-E472-02B2-F3FCA8D2B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REVIEW-4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0C9A2F-D1CF-8B77-23D8-1B55B21A402A}"/>
              </a:ext>
            </a:extLst>
          </p:cNvPr>
          <p:cNvSpPr txBox="1">
            <a:spLocks/>
          </p:cNvSpPr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  <a:defRPr/>
            </a:pPr>
            <a:endParaRPr lang="en-US" sz="1600" dirty="0">
              <a:cs typeface="Calibri"/>
            </a:endParaRPr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C0188D96-C228-81A6-35F6-F71DC8F4A094}"/>
              </a:ext>
            </a:extLst>
          </p:cNvPr>
          <p:cNvSpPr txBox="1">
            <a:spLocks/>
          </p:cNvSpPr>
          <p:nvPr/>
        </p:nvSpPr>
        <p:spPr>
          <a:xfrm>
            <a:off x="2590800" y="6561931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31B0FD-F5AC-FA6A-F161-DFDC19656A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066800"/>
            <a:ext cx="8686800" cy="2497293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7B18F34-E837-44A6-811A-02DA9A379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765173"/>
              </p:ext>
            </p:extLst>
          </p:nvPr>
        </p:nvGraphicFramePr>
        <p:xfrm>
          <a:off x="304800" y="3564093"/>
          <a:ext cx="8610600" cy="3021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0200">
                  <a:extLst>
                    <a:ext uri="{9D8B030D-6E8A-4147-A177-3AD203B41FA5}">
                      <a16:colId xmlns:a16="http://schemas.microsoft.com/office/drawing/2014/main" val="1845502991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2013880599"/>
                    </a:ext>
                  </a:extLst>
                </a:gridCol>
                <a:gridCol w="2870200">
                  <a:extLst>
                    <a:ext uri="{9D8B030D-6E8A-4147-A177-3AD203B41FA5}">
                      <a16:colId xmlns:a16="http://schemas.microsoft.com/office/drawing/2014/main" val="601494163"/>
                    </a:ext>
                  </a:extLst>
                </a:gridCol>
              </a:tblGrid>
              <a:tr h="47959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Metric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Value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Model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731507525"/>
                  </a:ext>
                </a:extLst>
              </a:tr>
              <a:tr h="73349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Violence Detection Accuracy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99.5%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EfficientNet-B0</a:t>
                      </a: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496739367"/>
                  </a:ext>
                </a:extLst>
              </a:tr>
              <a:tr h="73349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Weapon Detection (mAP50)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91.1%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YOLOv8s (Custom)</a:t>
                      </a: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696153599"/>
                  </a:ext>
                </a:extLst>
              </a:tr>
              <a:tr h="47959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Detection Precision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87.8%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YOLOv8s (Custom)</a:t>
                      </a: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539108760"/>
                  </a:ext>
                </a:extLst>
              </a:tr>
              <a:tr h="47959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Inference Speed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~150ms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21920" marB="12192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Full Pipeline (ONNX)</a:t>
                      </a:r>
                    </a:p>
                  </a:txBody>
                  <a:tcPr marT="121920" marB="121920" anchor="ctr"/>
                </a:tc>
                <a:extLst>
                  <a:ext uri="{0D108BD9-81ED-4DB2-BD59-A6C34878D82A}">
                    <a16:rowId xmlns:a16="http://schemas.microsoft.com/office/drawing/2014/main" val="1154308151"/>
                  </a:ext>
                </a:extLst>
              </a:tr>
            </a:tbl>
          </a:graphicData>
        </a:graphic>
      </p:graphicFrame>
      <p:pic>
        <p:nvPicPr>
          <p:cNvPr id="18" name="Picture 17">
            <a:extLst>
              <a:ext uri="{FF2B5EF4-FFF2-40B4-BE49-F238E27FC236}">
                <a16:creationId xmlns:a16="http://schemas.microsoft.com/office/drawing/2014/main" id="{07B4CE04-DE56-C1A9-5292-0E04E78F8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6097" y="6616670"/>
            <a:ext cx="341406" cy="32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14238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/>
              </a:rPr>
              <a:t>Conclusion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15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600" b="1" dirty="0" err="1"/>
              <a:t>CrimeSolver</a:t>
            </a:r>
            <a:r>
              <a:rPr lang="en-US" sz="1600" dirty="0"/>
              <a:t> successfully establishes an automated, AI-driven framework for forensic image analysis, effectively addressing the critical need for speed, accuracy, and evidentiary integrity in digital investigations.</a:t>
            </a:r>
          </a:p>
          <a:p>
            <a:r>
              <a:rPr lang="en-US" sz="1600" b="1" dirty="0"/>
              <a:t>Integrated Intelligence:</a:t>
            </a:r>
            <a:r>
              <a:rPr lang="en-US" sz="1600" dirty="0"/>
              <a:t> Successfully unified </a:t>
            </a:r>
            <a:r>
              <a:rPr lang="en-US" sz="1600" b="1" dirty="0"/>
              <a:t>Dual-Model Object Detection</a:t>
            </a:r>
            <a:r>
              <a:rPr lang="en-US" sz="1600" dirty="0"/>
              <a:t> and </a:t>
            </a:r>
            <a:r>
              <a:rPr lang="en-US" sz="1600" b="1" dirty="0"/>
              <a:t>Scene Classification</a:t>
            </a:r>
            <a:r>
              <a:rPr lang="en-US" sz="1600" dirty="0"/>
              <a:t> into a single cohesive pipeline, providing both granular detail (weapons) and high-level context (violence).</a:t>
            </a:r>
          </a:p>
          <a:p>
            <a:r>
              <a:rPr lang="en-US" sz="1600" b="1" dirty="0"/>
              <a:t>Performance Excellence:</a:t>
            </a:r>
            <a:r>
              <a:rPr lang="en-US" sz="1600" dirty="0"/>
              <a:t> Demonstrated high-reliability metrics with a </a:t>
            </a:r>
            <a:r>
              <a:rPr lang="en-US" sz="1600" b="1" dirty="0"/>
              <a:t>91.1% </a:t>
            </a:r>
            <a:r>
              <a:rPr lang="en-US" sz="1600" b="1" dirty="0" err="1"/>
              <a:t>mAP</a:t>
            </a:r>
            <a:r>
              <a:rPr lang="en-US" sz="1600" dirty="0"/>
              <a:t> for weapon detection and a </a:t>
            </a:r>
            <a:r>
              <a:rPr lang="en-US" sz="1600" b="1" dirty="0"/>
              <a:t>99.5% accuracy</a:t>
            </a:r>
            <a:r>
              <a:rPr lang="en-US" sz="1600" dirty="0"/>
              <a:t> rate for scene classification.</a:t>
            </a:r>
          </a:p>
          <a:p>
            <a:r>
              <a:rPr lang="en-US" sz="1600" b="1" dirty="0"/>
              <a:t>Trust &amp; Authenticity:</a:t>
            </a:r>
            <a:r>
              <a:rPr lang="en-US" sz="1600" dirty="0"/>
              <a:t> Solved the "Integrity Gap" by implementing </a:t>
            </a:r>
            <a:r>
              <a:rPr lang="en-US" sz="1600" b="1" dirty="0"/>
              <a:t>Error Level Analysis (ELA)</a:t>
            </a:r>
            <a:r>
              <a:rPr lang="en-US" sz="1600" dirty="0"/>
              <a:t> and MD5 hashing, ensuring all analyzed evidence is verified against digital tampering.</a:t>
            </a:r>
          </a:p>
          <a:p>
            <a:r>
              <a:rPr lang="en-US" sz="1600" b="1" dirty="0"/>
              <a:t>Operational Impact:</a:t>
            </a:r>
            <a:r>
              <a:rPr lang="en-US" sz="1600" dirty="0"/>
              <a:t> Reduced the forensic analysis and documentation lifecycle from hours to </a:t>
            </a:r>
            <a:r>
              <a:rPr lang="en-US" sz="1600" b="1" dirty="0"/>
              <a:t>milliseconds (~150ms)</a:t>
            </a:r>
            <a:r>
              <a:rPr lang="en-US" sz="1600" dirty="0"/>
              <a:t>, enabling rapid decision-making for law enforcement.</a:t>
            </a:r>
          </a:p>
          <a:p>
            <a:r>
              <a:rPr lang="en-US" sz="1600" b="1" dirty="0"/>
              <a:t>Professional Output:</a:t>
            </a:r>
            <a:r>
              <a:rPr lang="en-US" sz="1600" dirty="0"/>
              <a:t> Bridged the gap between AI inference and administrative requirements through the automated generation of </a:t>
            </a:r>
            <a:r>
              <a:rPr lang="en-US" sz="1600" b="1" dirty="0"/>
              <a:t>standardized, court-ready PDF reports</a:t>
            </a:r>
            <a:r>
              <a:rPr lang="en-US" sz="1600" dirty="0"/>
              <a:t>.</a:t>
            </a:r>
          </a:p>
          <a:p>
            <a:r>
              <a:rPr lang="en-US" sz="1600" b="1" dirty="0"/>
              <a:t>Research Advancement:</a:t>
            </a:r>
            <a:r>
              <a:rPr lang="en-US" sz="1600" dirty="0"/>
              <a:t> Developed a robust methodology currently under review at multiple </a:t>
            </a:r>
            <a:r>
              <a:rPr lang="en-US" sz="1600" b="1" dirty="0"/>
              <a:t>IEEE International Conferences</a:t>
            </a:r>
            <a:r>
              <a:rPr lang="en-US" sz="1600" dirty="0"/>
              <a:t>, representing a significant step forward in automated forensic science.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511E57-5637-4D94-05DC-943799E81D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  <p:extLst>
      <p:ext uri="{BB962C8B-B14F-4D97-AF65-F5344CB8AC3E}">
        <p14:creationId xmlns:p14="http://schemas.microsoft.com/office/powerpoint/2010/main" val="344569294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DA53F-B02D-4760-90B7-DB325626B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3600" b="1" dirty="0"/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  <a:p>
            <a:pPr marL="514350" indent="-51435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b="1" dirty="0"/>
          </a:p>
          <a:p>
            <a:pPr marL="514350" indent="-51435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400" b="1" dirty="0"/>
              <a:t>Thank You</a:t>
            </a:r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BB240-5782-410E-A3EF-F343719E4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518D7D88-921A-4D31-AE25-21776C2970CA}" type="slidenum">
              <a:rPr lang="en-US" altLang="en-US" dirty="0">
                <a:solidFill>
                  <a:srgbClr val="898989"/>
                </a:solidFill>
              </a:rPr>
              <a:pPr/>
              <a:t>16</a:t>
            </a:fld>
            <a:endParaRPr lang="en-US" altLang="en-US" dirty="0">
              <a:solidFill>
                <a:srgbClr val="898989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BAED27-1BF6-0E39-B7FC-495FE68C4C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945" y="136525"/>
            <a:ext cx="956310" cy="731520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A0CF1A9-7B51-DA39-B206-C946B99C8418}"/>
              </a:ext>
            </a:extLst>
          </p:cNvPr>
          <p:cNvSpPr txBox="1">
            <a:spLocks/>
          </p:cNvSpPr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/>
              <a:t>DEPARTMENT OF CSE : MINI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2850</TotalTime>
  <Words>1930</Words>
  <Application>Microsoft Office PowerPoint</Application>
  <PresentationFormat>On-screen Show (4:3)</PresentationFormat>
  <Paragraphs>239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Arial,Sans-Serif</vt:lpstr>
      <vt:lpstr>Calibri</vt:lpstr>
      <vt:lpstr>Google Sans Text</vt:lpstr>
      <vt:lpstr>Office Theme</vt:lpstr>
      <vt:lpstr>    DEPARTMENT OF COMPUTER SCIENCE AND ENGINEERING  </vt:lpstr>
      <vt:lpstr>Mini Project Outlines</vt:lpstr>
      <vt:lpstr>Introduction</vt:lpstr>
      <vt:lpstr>Existing System Vs Proposed </vt:lpstr>
      <vt:lpstr>Research Gaps</vt:lpstr>
      <vt:lpstr>Problem Statement</vt:lpstr>
      <vt:lpstr>Proposed Project Objectives</vt:lpstr>
      <vt:lpstr>Proposed Project Outcomes</vt:lpstr>
      <vt:lpstr>Software and Hardware Requirements</vt:lpstr>
      <vt:lpstr>Architectural Diagram</vt:lpstr>
      <vt:lpstr>PROPOSED METHOD AND ALGORITHMS</vt:lpstr>
      <vt:lpstr>Results</vt:lpstr>
      <vt:lpstr>Results</vt:lpstr>
      <vt:lpstr>Results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Venu Gopal Sakkera</dc:creator>
  <cp:lastModifiedBy>dinesh gujjeti</cp:lastModifiedBy>
  <cp:revision>529</cp:revision>
  <dcterms:created xsi:type="dcterms:W3CDTF">2006-08-16T00:00:00Z</dcterms:created>
  <dcterms:modified xsi:type="dcterms:W3CDTF">2026-04-01T10:36:42Z</dcterms:modified>
</cp:coreProperties>
</file>